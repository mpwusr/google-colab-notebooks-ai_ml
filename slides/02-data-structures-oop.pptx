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3A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97BC62"/>
          </a:solidFill>
          <a:ln/>
        </p:spPr>
      </p:sp>
      <p:sp>
        <p:nvSpPr>
          <p:cNvPr id="3" name="Shape 1"/>
          <p:cNvSpPr/>
          <p:nvPr/>
        </p:nvSpPr>
        <p:spPr>
          <a:xfrm>
            <a:off x="6858000" y="1371600"/>
            <a:ext cx="3657600" cy="3657600"/>
          </a:xfrm>
          <a:prstGeom prst="ellipse">
            <a:avLst/>
          </a:prstGeom>
          <a:solidFill>
            <a:srgbClr val="2C5F2D"/>
          </a:solidFill>
          <a:ln w="25400">
            <a:solidFill>
              <a:srgbClr val="7DA87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498080" y="2011680"/>
            <a:ext cx="2377440" cy="2377440"/>
          </a:xfrm>
          <a:prstGeom prst="ellipse">
            <a:avLst/>
          </a:prstGeom>
          <a:solidFill>
            <a:srgbClr val="7DA87B"/>
          </a:solidFill>
          <a:ln w="12700">
            <a:solidFill>
              <a:srgbClr val="97BC6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109728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600" kern="0" dirty="0">
                <a:solidFill>
                  <a:srgbClr val="97BC6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MODULE 02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731520" y="1554480"/>
            <a:ext cx="5943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Data Structures</a:t>
            </a:r>
            <a:endParaRPr lang="en-US" sz="3600" dirty="0"/>
          </a:p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&amp; OOP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731520" y="301752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with AI &amp; Machine Learning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97BC62"/>
          </a:solidFill>
          <a:ln/>
        </p:spPr>
      </p:sp>
      <p:sp>
        <p:nvSpPr>
          <p:cNvPr id="9" name="Text 7"/>
          <p:cNvSpPr/>
          <p:nvPr/>
        </p:nvSpPr>
        <p:spPr>
          <a:xfrm>
            <a:off x="457200" y="4800600"/>
            <a:ext cx="82296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3A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AI/ML Course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9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97BC62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2860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C5F2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 You Will Learn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097280"/>
            <a:ext cx="804672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3D4F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built-in data structures: lists, tuples, dicts, sets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3D4F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 structures: arrays, linked lists, trees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3D4F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Object-Oriented Programming: classes, objects, methods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3D4F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Inheritance, polymorphism, encapsulation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3D4F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Magic methods and operator overloading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3D4F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patterns and best practices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4800600"/>
            <a:ext cx="36576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2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029200" y="4800600"/>
            <a:ext cx="36576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You Will Learn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9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97BC62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2860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C5F2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Built-in Data Structures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65760" y="1005840"/>
            <a:ext cx="2651760" cy="3291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1005840"/>
            <a:ext cx="54864" cy="3291840"/>
          </a:xfrm>
          <a:prstGeom prst="rect">
            <a:avLst/>
          </a:prstGeom>
          <a:solidFill>
            <a:srgbClr val="97BC62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078992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C5F2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Lists &amp; Tuples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48640" y="1371600"/>
            <a:ext cx="233172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3D4F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list: mutable, ordered, []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3D4F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tuple: immutable, ordered, ()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3D4F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Slicing: lst[1:5:2]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3D4F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Methods: append, extend, sort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246120" y="1005840"/>
            <a:ext cx="2651760" cy="3291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246120" y="1005840"/>
            <a:ext cx="54864" cy="3291840"/>
          </a:xfrm>
          <a:prstGeom prst="rect">
            <a:avLst/>
          </a:prstGeom>
          <a:solidFill>
            <a:srgbClr val="4A90D9"/>
          </a:solidFill>
          <a:ln/>
        </p:spPr>
      </p:sp>
      <p:sp>
        <p:nvSpPr>
          <p:cNvPr id="10" name="Text 8"/>
          <p:cNvSpPr/>
          <p:nvPr/>
        </p:nvSpPr>
        <p:spPr>
          <a:xfrm>
            <a:off x="3429000" y="1078992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C5F2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Dictionaries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429000" y="1371600"/>
            <a:ext cx="233172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3D4F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Key-value pairs {k: v}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3D4F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O(1) lookup by key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3D4F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.get(), .items(), .keys()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3D4F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Dict comprehensions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126480" y="1005840"/>
            <a:ext cx="2651760" cy="3291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126480" y="1005840"/>
            <a:ext cx="54864" cy="3291840"/>
          </a:xfrm>
          <a:prstGeom prst="rect">
            <a:avLst/>
          </a:prstGeom>
          <a:solidFill>
            <a:srgbClr val="E8913A"/>
          </a:solidFill>
          <a:ln/>
        </p:spPr>
      </p:sp>
      <p:sp>
        <p:nvSpPr>
          <p:cNvPr id="14" name="Text 12"/>
          <p:cNvSpPr/>
          <p:nvPr/>
        </p:nvSpPr>
        <p:spPr>
          <a:xfrm>
            <a:off x="6309360" y="1078992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C5F2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Sets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309360" y="1371600"/>
            <a:ext cx="233172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3D4F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Unique elements {1,2,3}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3D4F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Union, intersection, diff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3D4F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O(1) membership test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3D4F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frozenset (immutable)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17" name="Text 15"/>
          <p:cNvSpPr/>
          <p:nvPr/>
        </p:nvSpPr>
        <p:spPr>
          <a:xfrm>
            <a:off x="457200" y="4800600"/>
            <a:ext cx="36576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2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5029200" y="4800600"/>
            <a:ext cx="36576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Built-in Data Structures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9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97BC62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2860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C5F2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Object-Oriented Programming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65760" y="1005840"/>
            <a:ext cx="8412480" cy="3566160"/>
          </a:xfrm>
          <a:prstGeom prst="rect">
            <a:avLst/>
          </a:prstGeom>
          <a:solidFill>
            <a:srgbClr val="1A3A1C"/>
          </a:solidFill>
          <a:ln/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48640" y="1097280"/>
            <a:ext cx="804672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97BC6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 Animal: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97BC6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def __init__(self, name: str, species: str):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97BC6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self.name = name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97BC6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self._species = species  # protected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97BC6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def speak(self) -&gt; str: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97BC6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return f'{self.name} makes a sound'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97BC6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def __repr__(self) -&gt; str: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97BC6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return f'Animal({self.name!r}, {self._species!r})'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97BC6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 Dog(Animal):  # Inheritance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97BC6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def __init__(self, name: str, breed: str):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97BC6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super().__init__(name, 'Canine')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97BC6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self.breed = breed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97BC6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def speak(self) -&gt; str:  # Polymorphism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97BC6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return f'{self.name} barks!'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4800600"/>
            <a:ext cx="36576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2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029200" y="4800600"/>
            <a:ext cx="36576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OOP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9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97BC62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2860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C5F2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Advanced OOP Concepts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73152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Beyond the basics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65760" y="1005840"/>
            <a:ext cx="3931920" cy="3474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1005840"/>
            <a:ext cx="54864" cy="3474720"/>
          </a:xfrm>
          <a:prstGeom prst="rect">
            <a:avLst/>
          </a:prstGeom>
          <a:solidFill>
            <a:srgbClr val="97BC62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1078992"/>
            <a:ext cx="3611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C5F2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Encapsulation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48640" y="1371600"/>
            <a:ext cx="361188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3D4F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Public: self.name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3D4F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Protected: self._name (convention)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3D4F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Private: self.__name (name mangling)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3D4F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@property decorator for getters/setters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3D4F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Slots: __slots__ for memory optimization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846320" y="1005840"/>
            <a:ext cx="3931920" cy="3474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846320" y="1005840"/>
            <a:ext cx="54864" cy="3474720"/>
          </a:xfrm>
          <a:prstGeom prst="rect">
            <a:avLst/>
          </a:prstGeom>
          <a:solidFill>
            <a:srgbClr val="4A90D9"/>
          </a:solidFill>
          <a:ln/>
        </p:spPr>
      </p:sp>
      <p:sp>
        <p:nvSpPr>
          <p:cNvPr id="11" name="Text 9"/>
          <p:cNvSpPr/>
          <p:nvPr/>
        </p:nvSpPr>
        <p:spPr>
          <a:xfrm>
            <a:off x="5029200" y="1078992"/>
            <a:ext cx="3611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C5F2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Special Methods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029200" y="1371600"/>
            <a:ext cx="361188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3D4F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__init__: constructor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3D4F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__str__ / __repr__: string representation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3D4F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__len__, __getitem__: container behavior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3D4F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__add__, __eq__: operator overloading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3D4F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__enter__, __exit__: context manager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14" name="Text 12"/>
          <p:cNvSpPr/>
          <p:nvPr/>
        </p:nvSpPr>
        <p:spPr>
          <a:xfrm>
            <a:off x="457200" y="4800600"/>
            <a:ext cx="36576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2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5029200" y="4800600"/>
            <a:ext cx="36576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 OOP Concepts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A3A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97BC62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45720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Summary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31520" y="1188720"/>
            <a:ext cx="768096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Lists (mutable, ordered), tuples (immutable), dicts (key-value), sets (unique items)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OOP: classes encapsulate data + behavior, __init__ is the constructor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Inheritance: child classes extend parent classes, super() calls parent methods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Polymorphism: same method name, different behavior in subclasses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Magic methods (__str__, __len__, etc.) make custom classes feel Pythonic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4800600"/>
            <a:ext cx="36576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2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029200" y="4800600"/>
            <a:ext cx="36576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Module 2: Data Structures &amp; OOP</dc:title>
  <dc:subject>PptxGenJS Presentation</dc:subject>
  <dc:creator>AI/ML Course</dc:creator>
  <cp:lastModifiedBy>AI/ML Course</cp:lastModifiedBy>
  <cp:revision>1</cp:revision>
  <dcterms:created xsi:type="dcterms:W3CDTF">2026-03-17T11:55:41Z</dcterms:created>
  <dcterms:modified xsi:type="dcterms:W3CDTF">2026-03-17T11:55:41Z</dcterms:modified>
</cp:coreProperties>
</file>